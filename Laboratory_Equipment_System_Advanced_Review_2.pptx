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594360"/>
            <a:ext cx="2103120" cy="2103120"/>
          </a:xfrm>
          <a:prstGeom prst="ellipse">
            <a:avLst/>
          </a:prstGeom>
          <a:solidFill>
            <a:srgbClr val="12223D"/>
          </a:solidFill>
          <a:ln>
            <a:solidFill>
              <a:srgbClr val="12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87000" y="1234440"/>
            <a:ext cx="1051560" cy="1051560"/>
          </a:xfrm>
          <a:prstGeom prst="ellipse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69680" y="1828800"/>
            <a:ext cx="502920" cy="502920"/>
          </a:xfrm>
          <a:prstGeom prst="ellipse">
            <a:avLst/>
          </a:prstGeom>
          <a:solidFill>
            <a:srgbClr val="2AD2BE"/>
          </a:solidFill>
          <a:ln>
            <a:solidFill>
              <a:srgbClr val="2A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621792"/>
            <a:ext cx="1325880" cy="310896"/>
          </a:xfrm>
          <a:prstGeom prst="roundRect">
            <a:avLst/>
          </a:prstGeom>
          <a:solidFill>
            <a:srgbClr val="12223D"/>
          </a:solidFill>
          <a:ln>
            <a:solidFill>
              <a:srgbClr val="2A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640080"/>
            <a:ext cx="1234439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2AD2BE"/>
                </a:solidFill>
                <a:latin typeface="Aptos"/>
              </a:defRPr>
            </a:pPr>
            <a:r>
              <a:t>DBMS • REVIEW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353312"/>
            <a:ext cx="7955279" cy="1508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3100" b="1">
                <a:solidFill>
                  <a:srgbClr val="F4F8FC"/>
                </a:solidFill>
                <a:latin typeface="Aptos"/>
              </a:defRPr>
            </a:pPr>
            <a:r>
              <a:t>LABORATORY EQUIPMENT</a:t>
            </a:r>
            <a:br/>
            <a:r>
              <a:t>BOOKING &amp; MAINTENANCE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090672"/>
            <a:ext cx="67665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800" b="0">
                <a:solidFill>
                  <a:srgbClr val="61DCE6"/>
                </a:solidFill>
                <a:latin typeface="Aptos"/>
              </a:defRPr>
            </a:pPr>
            <a:r>
              <a:t>Advanced database design, integrity controls &amp; analytical reporting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3977639"/>
            <a:ext cx="1005840" cy="50292"/>
          </a:xfrm>
          <a:prstGeom prst="rect">
            <a:avLst/>
          </a:prstGeom>
          <a:solidFill>
            <a:srgbClr val="2AD2BE"/>
          </a:solidFill>
          <a:ln>
            <a:solidFill>
              <a:srgbClr val="2A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4279392"/>
            <a:ext cx="6126480" cy="960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0">
                <a:solidFill>
                  <a:srgbClr val="AFBFD3"/>
                </a:solidFill>
                <a:latin typeface="Aptos"/>
              </a:defRPr>
            </a:pPr>
            <a:r>
              <a:t>A KHUSHI PATRO</a:t>
            </a:r>
            <a:br/>
            <a:r>
              <a:t>Roll No. 25WU0104005  •  CSE Panthers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5166360"/>
            <a:ext cx="228600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200" b="1">
                <a:solidFill>
                  <a:srgbClr val="2AD2BE"/>
                </a:solidFill>
                <a:latin typeface="Aptos"/>
              </a:defRPr>
            </a:pPr>
            <a:r>
              <a:t>REVIEW 02</a:t>
            </a:r>
            <a:br/>
            <a:r>
              <a:t>SCHEMA → RULES → REPORTS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6327648"/>
            <a:ext cx="6858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0">
                <a:solidFill>
                  <a:srgbClr val="AFBFD3"/>
                </a:solidFill>
                <a:latin typeface="Aptos"/>
              </a:defRPr>
            </a:pPr>
            <a:r>
              <a:t>DESIGN AND IMPLEMENTATION OF A DATABASE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6984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700" b="1">
                <a:solidFill>
                  <a:srgbClr val="F4F8FC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04672"/>
            <a:ext cx="1143000" cy="41148"/>
          </a:xfrm>
          <a:prstGeom prst="rect">
            <a:avLst/>
          </a:prstGeom>
          <a:solidFill>
            <a:srgbClr val="2AD2BE"/>
          </a:solidFill>
          <a:ln>
            <a:solidFill>
              <a:srgbClr val="2A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81160" y="256032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2AD2BE"/>
                </a:solidFill>
                <a:latin typeface="Aptos"/>
              </a:defRPr>
            </a:pPr>
            <a:r>
              <a:t>01 •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FBFD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69848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200" b="1">
                <a:solidFill>
                  <a:srgbClr val="2AD2BE"/>
                </a:solidFill>
                <a:latin typeface="Aptos"/>
              </a:defRPr>
            </a:pPr>
            <a:r>
              <a:t>One reliable database for the complete equipment lifecycle.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3520440" cy="1828800"/>
          </a:xfrm>
          <a:prstGeom prst="roundRect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874519"/>
            <a:ext cx="64008" cy="1828800"/>
          </a:xfrm>
          <a:prstGeom prst="rect">
            <a:avLst/>
          </a:prstGeom>
          <a:solidFill>
            <a:srgbClr val="FF6E78"/>
          </a:solidFill>
          <a:ln>
            <a:solidFill>
              <a:srgbClr val="FF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2039112"/>
            <a:ext cx="317296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F4F8FC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441448"/>
            <a:ext cx="3209544" cy="1170432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4F8FC"/>
                </a:solidFill>
                <a:latin typeface="Aptos"/>
              </a:defRPr>
            </a:pPr>
            <a:r>
              <a:t>•  Bookings and maintenance records are fragmented</a:t>
            </a:r>
          </a:p>
          <a:p>
            <a:pPr>
              <a:spcAft>
                <a:spcPts val="500"/>
              </a:spcAft>
              <a:defRPr sz="1400" b="0">
                <a:solidFill>
                  <a:srgbClr val="F4F8FC"/>
                </a:solidFill>
                <a:latin typeface="Aptos"/>
              </a:defRPr>
            </a:pPr>
            <a:r>
              <a:t>•  Equipment availability can be unclear</a:t>
            </a:r>
          </a:p>
          <a:p>
            <a:pPr>
              <a:spcAft>
                <a:spcPts val="500"/>
              </a:spcAft>
              <a:defRPr sz="1400" b="0">
                <a:solidFill>
                  <a:srgbClr val="F4F8FC"/>
                </a:solidFill>
                <a:latin typeface="Aptos"/>
              </a:defRPr>
            </a:pPr>
            <a:r>
              <a:t>•  Calibration and breakdown history may be missed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874519"/>
            <a:ext cx="3520440" cy="1828800"/>
          </a:xfrm>
          <a:prstGeom prst="roundRect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874519"/>
            <a:ext cx="64008" cy="1828800"/>
          </a:xfrm>
          <a:prstGeom prst="rect">
            <a:avLst/>
          </a:prstGeom>
          <a:solidFill>
            <a:srgbClr val="2AD2BE"/>
          </a:solidFill>
          <a:ln>
            <a:solidFill>
              <a:srgbClr val="2A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039112"/>
            <a:ext cx="317296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F4F8FC"/>
                </a:solidFill>
                <a:latin typeface="Aptos"/>
              </a:defRPr>
            </a:pPr>
            <a:r>
              <a:t>THE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441448"/>
            <a:ext cx="3209544" cy="1170432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4F8FC"/>
                </a:solidFill>
                <a:latin typeface="Aptos"/>
              </a:defRPr>
            </a:pPr>
            <a:r>
              <a:t>•  Centralized relational database</a:t>
            </a:r>
          </a:p>
          <a:p>
            <a:pPr>
              <a:spcAft>
                <a:spcPts val="500"/>
              </a:spcAft>
              <a:defRPr sz="1400" b="0">
                <a:solidFill>
                  <a:srgbClr val="F4F8FC"/>
                </a:solidFill>
                <a:latin typeface="Aptos"/>
              </a:defRPr>
            </a:pPr>
            <a:r>
              <a:t>•  Conflict-aware booking workflow</a:t>
            </a:r>
          </a:p>
          <a:p>
            <a:pPr>
              <a:spcAft>
                <a:spcPts val="500"/>
              </a:spcAft>
              <a:defRPr sz="1400" b="0">
                <a:solidFill>
                  <a:srgbClr val="F4F8FC"/>
                </a:solidFill>
                <a:latin typeface="Aptos"/>
              </a:defRPr>
            </a:pPr>
            <a:r>
              <a:t>•  Linked usage, calibration and service history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74519"/>
            <a:ext cx="3520440" cy="1828800"/>
          </a:xfrm>
          <a:prstGeom prst="roundRect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874519"/>
            <a:ext cx="64008" cy="1828800"/>
          </a:xfrm>
          <a:prstGeom prst="rect">
            <a:avLst/>
          </a:prstGeom>
          <a:solidFill>
            <a:srgbClr val="61DCE6"/>
          </a:solidFill>
          <a:ln>
            <a:solidFill>
              <a:srgbClr val="6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039112"/>
            <a:ext cx="317296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F4F8FC"/>
                </a:solidFill>
                <a:latin typeface="Aptos"/>
              </a:defRPr>
            </a:pPr>
            <a:r>
              <a:t>THE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2441448"/>
            <a:ext cx="3209544" cy="1170432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F4F8FC"/>
                </a:solidFill>
                <a:latin typeface="Aptos"/>
              </a:defRPr>
            </a:pPr>
            <a:r>
              <a:t>•  More dependable availability checks</a:t>
            </a:r>
          </a:p>
          <a:p>
            <a:pPr>
              <a:spcAft>
                <a:spcPts val="500"/>
              </a:spcAft>
              <a:defRPr sz="1400" b="0">
                <a:solidFill>
                  <a:srgbClr val="F4F8FC"/>
                </a:solidFill>
                <a:latin typeface="Aptos"/>
              </a:defRPr>
            </a:pPr>
            <a:r>
              <a:t>•  Traceable equipment lifecycle</a:t>
            </a:r>
          </a:p>
          <a:p>
            <a:pPr>
              <a:spcAft>
                <a:spcPts val="500"/>
              </a:spcAft>
              <a:defRPr sz="1400" b="0">
                <a:solidFill>
                  <a:srgbClr val="F4F8FC"/>
                </a:solidFill>
                <a:latin typeface="Aptos"/>
              </a:defRPr>
            </a:pPr>
            <a:r>
              <a:t>•  Reports for planning and audits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160520"/>
            <a:ext cx="10927080" cy="1417320"/>
          </a:xfrm>
          <a:prstGeom prst="roundRect">
            <a:avLst/>
          </a:prstGeom>
          <a:solidFill>
            <a:srgbClr val="12223D"/>
          </a:solidFill>
          <a:ln>
            <a:solidFill>
              <a:srgbClr val="12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07408"/>
            <a:ext cx="2103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1">
                <a:solidFill>
                  <a:srgbClr val="2AD2BE"/>
                </a:solidFill>
                <a:latin typeface="Aptos"/>
              </a:defRPr>
            </a:pPr>
            <a:r>
              <a:t>REVIEW 2 FOCUS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73168"/>
            <a:ext cx="996696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0">
                <a:solidFill>
                  <a:srgbClr val="F4F8FC"/>
                </a:solidFill>
                <a:latin typeface="Aptos"/>
              </a:defRPr>
            </a:pPr>
            <a:r>
              <a:t>Translate the initial ER model into an implementable schema with keys, constraints, validation rules, sample workflows and useful reports.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989320"/>
            <a:ext cx="10698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0">
                <a:solidFill>
                  <a:srgbClr val="AFBFD3"/>
                </a:solidFill>
                <a:latin typeface="Aptos"/>
              </a:defRPr>
            </a:pPr>
            <a:r>
              <a:t>Source basis: DBMS FINAL PBL PDF — Laboratory Equipment Booking &amp; Maintenance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6984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700" b="1">
                <a:solidFill>
                  <a:srgbClr val="F4F8FC"/>
                </a:solidFill>
                <a:latin typeface="Aptos"/>
              </a:defRPr>
            </a:pPr>
            <a:r>
              <a:t>Problem Statement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04672"/>
            <a:ext cx="1143000" cy="41148"/>
          </a:xfrm>
          <a:prstGeom prst="rect">
            <a:avLst/>
          </a:prstGeom>
          <a:solidFill>
            <a:srgbClr val="2AD2BE"/>
          </a:solidFill>
          <a:ln>
            <a:solidFill>
              <a:srgbClr val="2A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81160" y="256032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2AD2BE"/>
                </a:solidFill>
                <a:latin typeface="Aptos"/>
              </a:defRPr>
            </a:pPr>
            <a:r>
              <a:t>02 •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FBFD3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78992"/>
            <a:ext cx="49377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FFB15C"/>
                </a:solidFill>
                <a:latin typeface="Aptos"/>
              </a:defRPr>
            </a:pPr>
            <a:r>
              <a:t>CURRENT PAIN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572768"/>
            <a:ext cx="4983480" cy="429768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4F8FC"/>
                </a:solidFill>
                <a:latin typeface="Aptos"/>
              </a:defRPr>
            </a:pPr>
            <a:r>
              <a:t>•  Double bookings during busy periods</a:t>
            </a:r>
          </a:p>
          <a:p>
            <a:pPr>
              <a:spcAft>
                <a:spcPts val="1200"/>
              </a:spcAft>
              <a:defRPr sz="1600" b="0">
                <a:solidFill>
                  <a:srgbClr val="AFBFD3"/>
                </a:solidFill>
                <a:latin typeface="Aptos"/>
              </a:defRPr>
            </a:pPr>
            <a:r>
              <a:t>•  Incomplete record of who used equipment and when</a:t>
            </a:r>
          </a:p>
          <a:p>
            <a:pPr>
              <a:spcAft>
                <a:spcPts val="1200"/>
              </a:spcAft>
              <a:defRPr sz="1600" b="0">
                <a:solidFill>
                  <a:srgbClr val="AFBFD3"/>
                </a:solidFill>
                <a:latin typeface="Aptos"/>
              </a:defRPr>
            </a:pPr>
            <a:r>
              <a:t>•  Calibration or repair status not visible at booking time</a:t>
            </a:r>
          </a:p>
          <a:p>
            <a:pPr>
              <a:spcAft>
                <a:spcPts val="1200"/>
              </a:spcAft>
              <a:defRPr sz="1600" b="0">
                <a:solidFill>
                  <a:srgbClr val="AFBFD3"/>
                </a:solidFill>
                <a:latin typeface="Aptos"/>
              </a:defRPr>
            </a:pPr>
            <a:r>
              <a:t>•  Separate breakdown and consumable logs delay decisions</a:t>
            </a:r>
          </a:p>
          <a:p>
            <a:pPr>
              <a:spcAft>
                <a:spcPts val="1200"/>
              </a:spcAft>
              <a:defRPr sz="1600" b="0">
                <a:solidFill>
                  <a:srgbClr val="AFBFD3"/>
                </a:solidFill>
                <a:latin typeface="Aptos"/>
              </a:defRPr>
            </a:pPr>
            <a:r>
              <a:t>•  Stockouts and poor maintenance traceability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078992"/>
            <a:ext cx="49377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2AD2BE"/>
                </a:solidFill>
                <a:latin typeface="Aptos"/>
              </a:defRPr>
            </a:pPr>
            <a:r>
              <a:t>SYSTEM OBJECTIVES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00200"/>
            <a:ext cx="5349240" cy="822960"/>
          </a:xfrm>
          <a:prstGeom prst="roundRect">
            <a:avLst/>
          </a:prstGeom>
          <a:solidFill>
            <a:srgbClr val="12223D"/>
          </a:solidFill>
          <a:ln>
            <a:solidFill>
              <a:srgbClr val="12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83080"/>
            <a:ext cx="457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2AD2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719072"/>
            <a:ext cx="1828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F4F8FC"/>
                </a:solidFill>
                <a:latin typeface="Aptos"/>
              </a:defRPr>
            </a:pPr>
            <a:r>
              <a:t>Reliable booking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1709928"/>
            <a:ext cx="26974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AFBFD3"/>
                </a:solidFill>
                <a:latin typeface="Aptos"/>
              </a:defRPr>
            </a:pPr>
            <a:r>
              <a:t>Prevent overlapping approved bookings.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2633472"/>
            <a:ext cx="5349240" cy="822960"/>
          </a:xfrm>
          <a:prstGeom prst="roundRect">
            <a:avLst/>
          </a:prstGeom>
          <a:solidFill>
            <a:srgbClr val="12223D"/>
          </a:solidFill>
          <a:ln>
            <a:solidFill>
              <a:srgbClr val="12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816352"/>
            <a:ext cx="457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2AD2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752344"/>
            <a:ext cx="1828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F4F8FC"/>
                </a:solidFill>
                <a:latin typeface="Aptos"/>
              </a:defRPr>
            </a:pPr>
            <a:r>
              <a:t>Lifecycle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2743200"/>
            <a:ext cx="26974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AFBFD3"/>
                </a:solidFill>
                <a:latin typeface="Aptos"/>
              </a:defRPr>
            </a:pPr>
            <a:r>
              <a:t>Connect booking, usage, breakdown and maintenance.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666744"/>
            <a:ext cx="5349240" cy="822960"/>
          </a:xfrm>
          <a:prstGeom prst="roundRect">
            <a:avLst/>
          </a:prstGeom>
          <a:solidFill>
            <a:srgbClr val="12223D"/>
          </a:solidFill>
          <a:ln>
            <a:solidFill>
              <a:srgbClr val="12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849624"/>
            <a:ext cx="457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2AD2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785615"/>
            <a:ext cx="1828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F4F8FC"/>
                </a:solidFill>
                <a:latin typeface="Aptos"/>
              </a:defRPr>
            </a:pPr>
            <a:r>
              <a:t>Safety &amp; readiness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3776472"/>
            <a:ext cx="26974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AFBFD3"/>
                </a:solidFill>
                <a:latin typeface="Aptos"/>
              </a:defRPr>
            </a:pPr>
            <a:r>
              <a:t>Track calibration and service due dates.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4700016"/>
            <a:ext cx="5349240" cy="822960"/>
          </a:xfrm>
          <a:prstGeom prst="roundRect">
            <a:avLst/>
          </a:prstGeom>
          <a:solidFill>
            <a:srgbClr val="12223D"/>
          </a:solidFill>
          <a:ln>
            <a:solidFill>
              <a:srgbClr val="12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4882896"/>
            <a:ext cx="4572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2AD2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818888"/>
            <a:ext cx="1828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F4F8FC"/>
                </a:solidFill>
                <a:latin typeface="Aptos"/>
              </a:defRPr>
            </a:pPr>
            <a:r>
              <a:t>Operational visibility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4809744"/>
            <a:ext cx="26974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AFBFD3"/>
                </a:solidFill>
                <a:latin typeface="Aptos"/>
              </a:defRPr>
            </a:pPr>
            <a:r>
              <a:t>Report availability, utilization, downtime and stock.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6984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700" b="1">
                <a:solidFill>
                  <a:srgbClr val="F4F8FC"/>
                </a:solidFill>
                <a:latin typeface="Aptos"/>
              </a:defRPr>
            </a:pPr>
            <a:r>
              <a:t>Proposed System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04672"/>
            <a:ext cx="1143000" cy="41148"/>
          </a:xfrm>
          <a:prstGeom prst="rect">
            <a:avLst/>
          </a:prstGeom>
          <a:solidFill>
            <a:srgbClr val="2AD2BE"/>
          </a:solidFill>
          <a:ln>
            <a:solidFill>
              <a:srgbClr val="2A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81160" y="256032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2AD2BE"/>
                </a:solidFill>
                <a:latin typeface="Aptos"/>
              </a:defRPr>
            </a:pPr>
            <a:r>
              <a:t>03 •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FBFD3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1444752" cy="1920240"/>
          </a:xfrm>
          <a:prstGeom prst="roundRect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02996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1">
                <a:solidFill>
                  <a:srgbClr val="2AD2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441448"/>
            <a:ext cx="120700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4F8FC"/>
                </a:solidFill>
                <a:latin typeface="Aptos"/>
              </a:defRPr>
            </a:pPr>
            <a:r>
              <a:t>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852928"/>
            <a:ext cx="1225296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AFBFD3"/>
                </a:solidFill>
                <a:latin typeface="Aptos"/>
              </a:defRPr>
            </a:pPr>
            <a:r>
              <a:t>Equipment, category,</a:t>
            </a:r>
            <a:br/>
            <a:r>
              <a:t>laboratory and status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75104" y="2788920"/>
            <a:ext cx="402336" cy="0"/>
          </a:xfrm>
          <a:prstGeom prst="line">
            <a:avLst/>
          </a:prstGeom>
          <a:ln w="19050">
            <a:solidFill>
              <a:srgbClr val="2A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450592" y="1874519"/>
            <a:ext cx="1444752" cy="1920240"/>
          </a:xfrm>
          <a:prstGeom prst="roundRect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87752" y="202996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1">
                <a:solidFill>
                  <a:srgbClr val="2AD2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9464" y="2441448"/>
            <a:ext cx="120700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4F8FC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852928"/>
            <a:ext cx="1225296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AFBFD3"/>
                </a:solidFill>
                <a:latin typeface="Aptos"/>
              </a:defRPr>
            </a:pPr>
            <a:r>
              <a:t>Find suitable equipment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22776" y="2788920"/>
            <a:ext cx="402336" cy="0"/>
          </a:xfrm>
          <a:prstGeom prst="line">
            <a:avLst/>
          </a:prstGeom>
          <a:ln w="19050">
            <a:solidFill>
              <a:srgbClr val="2A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98264" y="1874519"/>
            <a:ext cx="1444752" cy="1920240"/>
          </a:xfrm>
          <a:prstGeom prst="roundRect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02996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1">
                <a:solidFill>
                  <a:srgbClr val="2AD2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17136" y="2441448"/>
            <a:ext cx="120700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4F8FC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2852928"/>
            <a:ext cx="1225296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AFBFD3"/>
                </a:solidFill>
                <a:latin typeface="Aptos"/>
              </a:defRPr>
            </a:pPr>
            <a:r>
              <a:t>Check time slot, status,</a:t>
            </a:r>
            <a:br/>
            <a:r>
              <a:t>calibration and conflicts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70448" y="2788920"/>
            <a:ext cx="402336" cy="0"/>
          </a:xfrm>
          <a:prstGeom prst="line">
            <a:avLst/>
          </a:prstGeom>
          <a:ln w="19050">
            <a:solidFill>
              <a:srgbClr val="2A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45936" y="1874519"/>
            <a:ext cx="1444752" cy="1920240"/>
          </a:xfrm>
          <a:prstGeom prst="roundRect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3096" y="202996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1">
                <a:solidFill>
                  <a:srgbClr val="2AD2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2441448"/>
            <a:ext cx="120700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4F8FC"/>
                </a:solidFill>
                <a:latin typeface="Aptos"/>
              </a:defRPr>
            </a:pPr>
            <a:r>
              <a:t>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2852928"/>
            <a:ext cx="1225296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AFBFD3"/>
                </a:solidFill>
                <a:latin typeface="Aptos"/>
              </a:defRPr>
            </a:pPr>
            <a:r>
              <a:t>Create booking and</a:t>
            </a:r>
            <a:br/>
            <a:r>
              <a:t>record approval status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18120" y="2788920"/>
            <a:ext cx="402336" cy="0"/>
          </a:xfrm>
          <a:prstGeom prst="line">
            <a:avLst/>
          </a:prstGeom>
          <a:ln w="19050">
            <a:solidFill>
              <a:srgbClr val="2A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293608" y="1874519"/>
            <a:ext cx="1444752" cy="1920240"/>
          </a:xfrm>
          <a:prstGeom prst="roundRect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0768" y="202996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1">
                <a:solidFill>
                  <a:srgbClr val="2AD2B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441448"/>
            <a:ext cx="120700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4F8FC"/>
                </a:solidFill>
                <a:latin typeface="Aptos"/>
              </a:defRPr>
            </a:pPr>
            <a:r>
              <a:t>TRACK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3336" y="2852928"/>
            <a:ext cx="1225296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AFBFD3"/>
                </a:solidFill>
                <a:latin typeface="Aptos"/>
              </a:defRPr>
            </a:pPr>
            <a:r>
              <a:t>Log usage, breakdown,</a:t>
            </a:r>
            <a:br/>
            <a:r>
              <a:t>consumables and service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765792" y="2788920"/>
            <a:ext cx="402336" cy="0"/>
          </a:xfrm>
          <a:prstGeom prst="line">
            <a:avLst/>
          </a:prstGeom>
          <a:ln w="19050">
            <a:solidFill>
              <a:srgbClr val="2A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241280" y="1874519"/>
            <a:ext cx="1444752" cy="1920240"/>
          </a:xfrm>
          <a:prstGeom prst="roundRect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78440" y="2029968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1">
                <a:solidFill>
                  <a:srgbClr val="2AD2B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60152" y="2441448"/>
            <a:ext cx="120700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4F8FC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51007" y="2852928"/>
            <a:ext cx="1225296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000" b="0">
                <a:solidFill>
                  <a:srgbClr val="AFBFD3"/>
                </a:solidFill>
                <a:latin typeface="Aptos"/>
              </a:defRPr>
            </a:pPr>
            <a:r>
              <a:t>Availability, utilization,</a:t>
            </a:r>
            <a:br/>
            <a:r>
              <a:t>downtime and due dates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4389120"/>
            <a:ext cx="10698480" cy="1051560"/>
          </a:xfrm>
          <a:prstGeom prst="roundRect">
            <a:avLst/>
          </a:prstGeom>
          <a:solidFill>
            <a:srgbClr val="12223D"/>
          </a:solidFill>
          <a:ln>
            <a:solidFill>
              <a:srgbClr val="12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4590288"/>
            <a:ext cx="19202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1">
                <a:solidFill>
                  <a:srgbClr val="FFB15C"/>
                </a:solidFill>
                <a:latin typeface="Aptos"/>
              </a:defRPr>
            </a:pPr>
            <a:r>
              <a:t>CONTROL POINT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0360" y="4553712"/>
            <a:ext cx="813816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0">
                <a:solidFill>
                  <a:srgbClr val="F4F8FC"/>
                </a:solidFill>
                <a:latin typeface="Aptos"/>
              </a:defRPr>
            </a:pPr>
            <a:r>
              <a:t>A booking should be accepted only after the system checks equipment status, time overlap and relevant calibration/maintenance conditions.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806440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61DCE6"/>
                </a:solidFill>
                <a:latin typeface="Aptos"/>
              </a:defRPr>
            </a:pPr>
            <a:r>
              <a:t>Every event remains connected to the equipment record for end-to-end traceability.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6984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700" b="1">
                <a:solidFill>
                  <a:srgbClr val="F4F8FC"/>
                </a:solidFill>
                <a:latin typeface="Aptos"/>
              </a:defRPr>
            </a:pPr>
            <a:r>
              <a:t>Logical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04672"/>
            <a:ext cx="1143000" cy="41148"/>
          </a:xfrm>
          <a:prstGeom prst="rect">
            <a:avLst/>
          </a:prstGeom>
          <a:solidFill>
            <a:srgbClr val="2AD2BE"/>
          </a:solidFill>
          <a:ln>
            <a:solidFill>
              <a:srgbClr val="2A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81160" y="256032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2AD2BE"/>
                </a:solidFill>
                <a:latin typeface="Aptos"/>
              </a:defRPr>
            </a:pPr>
            <a:r>
              <a:t>04 •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FBFD3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17320"/>
            <a:ext cx="10652760" cy="914400"/>
          </a:xfrm>
          <a:prstGeom prst="roundRect">
            <a:avLst/>
          </a:prstGeom>
          <a:solidFill>
            <a:srgbClr val="12223D"/>
          </a:solidFill>
          <a:ln>
            <a:solidFill>
              <a:srgbClr val="2A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27048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1">
                <a:solidFill>
                  <a:srgbClr val="2AD2BE"/>
                </a:solidFill>
                <a:latin typeface="Aptos"/>
              </a:defRPr>
            </a:pPr>
            <a:r>
              <a:t>USER / APPLICATION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508760"/>
            <a:ext cx="3657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F4F8FC"/>
                </a:solidFill>
                <a:latin typeface="Aptos"/>
              </a:defRPr>
            </a:pPr>
            <a:r>
              <a:t>Lab staff • Students / requesters • Administrator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1527048"/>
            <a:ext cx="3749039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AFBFD3"/>
                </a:solidFill>
                <a:latin typeface="Aptos"/>
              </a:defRPr>
            </a:pPr>
            <a:r>
              <a:t>Search, request, approve and record equipment events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788920"/>
            <a:ext cx="10652760" cy="914400"/>
          </a:xfrm>
          <a:prstGeom prst="roundRect">
            <a:avLst/>
          </a:prstGeom>
          <a:solidFill>
            <a:srgbClr val="12223D"/>
          </a:solidFill>
          <a:ln>
            <a:solidFill>
              <a:srgbClr val="6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898648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1">
                <a:solidFill>
                  <a:srgbClr val="61DCE6"/>
                </a:solidFill>
                <a:latin typeface="Aptos"/>
              </a:defRPr>
            </a:pPr>
            <a:r>
              <a:t>BUSINESS RULE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880360"/>
            <a:ext cx="3657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F4F8FC"/>
                </a:solidFill>
                <a:latin typeface="Aptos"/>
              </a:defRPr>
            </a:pPr>
            <a:r>
              <a:t>Availability checks • Booking validation • Status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898648"/>
            <a:ext cx="3749039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AFBFD3"/>
                </a:solidFill>
                <a:latin typeface="Aptos"/>
              </a:defRPr>
            </a:pPr>
            <a:r>
              <a:t>Reject conflicts, inactive equipment and invalid state changes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160520"/>
            <a:ext cx="10652760" cy="914400"/>
          </a:xfrm>
          <a:prstGeom prst="roundRect">
            <a:avLst/>
          </a:prstGeom>
          <a:solidFill>
            <a:srgbClr val="12223D"/>
          </a:solidFill>
          <a:ln>
            <a:solidFill>
              <a:srgbClr val="A9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70248"/>
            <a:ext cx="2926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1">
                <a:solidFill>
                  <a:srgbClr val="A994FF"/>
                </a:solidFill>
                <a:latin typeface="Aptos"/>
              </a:defRPr>
            </a:pPr>
            <a:r>
              <a:t>RELATIONAL DATABASE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4251959"/>
            <a:ext cx="3657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F4F8FC"/>
                </a:solidFill>
                <a:latin typeface="Aptos"/>
              </a:defRPr>
            </a:pPr>
            <a:r>
              <a:t>PostgreSQL-style relational implementation (DBMS target to be confirmed)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4270248"/>
            <a:ext cx="3749039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AFBFD3"/>
                </a:solidFill>
                <a:latin typeface="Aptos"/>
              </a:defRPr>
            </a:pPr>
            <a:r>
              <a:t>Primary keys • Foreign keys • CHECK / UNIQUE constraints • Views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9048" y="2350008"/>
            <a:ext cx="0" cy="374904"/>
          </a:xfrm>
          <a:prstGeom prst="line">
            <a:avLst/>
          </a:prstGeom>
          <a:ln w="25400">
            <a:solidFill>
              <a:srgbClr val="2A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9048" y="3721608"/>
            <a:ext cx="0" cy="374904"/>
          </a:xfrm>
          <a:prstGeom prst="line">
            <a:avLst/>
          </a:prstGeom>
          <a:ln w="25400">
            <a:solidFill>
              <a:srgbClr val="2AD2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2960" y="5623560"/>
            <a:ext cx="106070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F4F8FC"/>
                </a:solidFill>
                <a:latin typeface="Aptos"/>
              </a:defRPr>
            </a:pPr>
            <a:r>
              <a:t>Design principle: keep data relationships explicit and enforce critical rules in the database—not only in the user interface.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6984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700" b="1">
                <a:solidFill>
                  <a:srgbClr val="F4F8FC"/>
                </a:solidFill>
                <a:latin typeface="Aptos"/>
              </a:defRPr>
            </a:pPr>
            <a:r>
              <a:t>ER Model — Core Relationships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04672"/>
            <a:ext cx="1143000" cy="41148"/>
          </a:xfrm>
          <a:prstGeom prst="rect">
            <a:avLst/>
          </a:prstGeom>
          <a:solidFill>
            <a:srgbClr val="2AD2BE"/>
          </a:solidFill>
          <a:ln>
            <a:solidFill>
              <a:srgbClr val="2A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81160" y="256032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2AD2BE"/>
                </a:solidFill>
                <a:latin typeface="Aptos"/>
              </a:defRPr>
            </a:pPr>
            <a:r>
              <a:t>05 • 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FBFD3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920240" cy="914400"/>
          </a:xfrm>
          <a:prstGeom prst="roundRect">
            <a:avLst/>
          </a:prstGeom>
          <a:solidFill>
            <a:srgbClr val="192C49"/>
          </a:solidFill>
          <a:ln>
            <a:solidFill>
              <a:srgbClr val="2A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08176"/>
            <a:ext cx="1737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2AD2BE"/>
                </a:solidFill>
                <a:latin typeface="Aptos"/>
              </a:defRPr>
            </a:pPr>
            <a:r>
              <a:t>LABORATORY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673352"/>
            <a:ext cx="1700784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900" b="0">
                <a:solidFill>
                  <a:srgbClr val="F4F8FC"/>
                </a:solidFill>
                <a:latin typeface="Aptos"/>
              </a:defRPr>
            </a:pPr>
            <a:r>
              <a:t>laboratory_id PK</a:t>
            </a:r>
            <a:br/>
            <a:r>
              <a:t>name, location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325880"/>
            <a:ext cx="1920240" cy="914400"/>
          </a:xfrm>
          <a:prstGeom prst="roundRect">
            <a:avLst/>
          </a:prstGeom>
          <a:solidFill>
            <a:srgbClr val="192C49"/>
          </a:solidFill>
          <a:ln>
            <a:solidFill>
              <a:srgbClr val="6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408176"/>
            <a:ext cx="1737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61DCE6"/>
                </a:solidFill>
                <a:latin typeface="Aptos"/>
              </a:defRPr>
            </a:pPr>
            <a:r>
              <a:t>CATEGORY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1673352"/>
            <a:ext cx="1700784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900" b="0">
                <a:solidFill>
                  <a:srgbClr val="F4F8FC"/>
                </a:solidFill>
                <a:latin typeface="Aptos"/>
              </a:defRPr>
            </a:pPr>
            <a:r>
              <a:t>category_id PK</a:t>
            </a:r>
            <a:br/>
            <a:r>
              <a:t>name, 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1325880"/>
            <a:ext cx="2194560" cy="914400"/>
          </a:xfrm>
          <a:prstGeom prst="roundRect">
            <a:avLst/>
          </a:prstGeom>
          <a:solidFill>
            <a:srgbClr val="192C49"/>
          </a:solidFill>
          <a:ln>
            <a:solidFill>
              <a:srgbClr val="A9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1408176"/>
            <a:ext cx="2011679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A994FF"/>
                </a:solidFill>
                <a:latin typeface="Aptos"/>
              </a:defRPr>
            </a:pPr>
            <a:r>
              <a:t>EQUIPMENT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8" y="1673352"/>
            <a:ext cx="1975104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900" b="0">
                <a:solidFill>
                  <a:srgbClr val="F4F8FC"/>
                </a:solidFill>
                <a:latin typeface="Aptos"/>
              </a:defRPr>
            </a:pPr>
            <a:r>
              <a:t>equipment_id PK</a:t>
            </a:r>
            <a:br/>
            <a:r>
              <a:t>laboratory_id FK</a:t>
            </a:r>
            <a:br/>
            <a:r>
              <a:t>category_id FK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1325880"/>
            <a:ext cx="1828800" cy="914400"/>
          </a:xfrm>
          <a:prstGeom prst="roundRect">
            <a:avLst/>
          </a:prstGeom>
          <a:solidFill>
            <a:srgbClr val="192C49"/>
          </a:solidFill>
          <a:ln>
            <a:solidFill>
              <a:srgbClr val="FFB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19" y="1408176"/>
            <a:ext cx="1645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B15C"/>
                </a:solidFill>
                <a:latin typeface="Aptos"/>
              </a:defRPr>
            </a:pPr>
            <a:r>
              <a:t>CALIBRATION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7" y="1673352"/>
            <a:ext cx="1609344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900" b="0">
                <a:solidFill>
                  <a:srgbClr val="F4F8FC"/>
                </a:solidFill>
                <a:latin typeface="Aptos"/>
              </a:defRPr>
            </a:pPr>
            <a:r>
              <a:t>calibration_id PK</a:t>
            </a:r>
            <a:br/>
            <a:r>
              <a:t>equipment_id FK</a:t>
            </a:r>
            <a:br/>
            <a:r>
              <a:t>dates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20" y="1325880"/>
            <a:ext cx="1965960" cy="914400"/>
          </a:xfrm>
          <a:prstGeom prst="roundRect">
            <a:avLst/>
          </a:prstGeom>
          <a:solidFill>
            <a:srgbClr val="192C49"/>
          </a:solidFill>
          <a:ln>
            <a:solidFill>
              <a:srgbClr val="FF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60" y="1408176"/>
            <a:ext cx="1783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6E78"/>
                </a:solidFill>
                <a:latin typeface="Aptos"/>
              </a:defRPr>
            </a:pPr>
            <a:r>
              <a:t>BREAKDOWN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6648" y="1673352"/>
            <a:ext cx="1746504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900" b="0">
                <a:solidFill>
                  <a:srgbClr val="F4F8FC"/>
                </a:solidFill>
                <a:latin typeface="Aptos"/>
              </a:defRPr>
            </a:pPr>
            <a:r>
              <a:t>breakdown_id PK</a:t>
            </a:r>
            <a:br/>
            <a:r>
              <a:t>equipment_id FK</a:t>
            </a:r>
            <a:br/>
            <a:r>
              <a:t>reported status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794760"/>
            <a:ext cx="1828800" cy="914400"/>
          </a:xfrm>
          <a:prstGeom prst="roundRect">
            <a:avLst/>
          </a:prstGeom>
          <a:solidFill>
            <a:srgbClr val="192C49"/>
          </a:solidFill>
          <a:ln>
            <a:solidFill>
              <a:srgbClr val="6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" y="3877056"/>
            <a:ext cx="1645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61DCE6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142232"/>
            <a:ext cx="1609344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900" b="0">
                <a:solidFill>
                  <a:srgbClr val="F4F8FC"/>
                </a:solidFill>
                <a:latin typeface="Aptos"/>
              </a:defRPr>
            </a:pPr>
            <a:r>
              <a:t>user_id PK</a:t>
            </a:r>
            <a:br/>
            <a:r>
              <a:t>name, email, role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80360" y="3794760"/>
            <a:ext cx="1965960" cy="914400"/>
          </a:xfrm>
          <a:prstGeom prst="roundRect">
            <a:avLst/>
          </a:prstGeom>
          <a:solidFill>
            <a:srgbClr val="192C49"/>
          </a:solidFill>
          <a:ln>
            <a:solidFill>
              <a:srgbClr val="2A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71800" y="3877056"/>
            <a:ext cx="1783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2AD2BE"/>
                </a:solidFill>
                <a:latin typeface="Aptos"/>
              </a:defRPr>
            </a:pPr>
            <a:r>
              <a:t>BOOKING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90088" y="4142232"/>
            <a:ext cx="1746504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900" b="0">
                <a:solidFill>
                  <a:srgbClr val="F4F8FC"/>
                </a:solidFill>
                <a:latin typeface="Aptos"/>
              </a:defRPr>
            </a:pPr>
            <a:r>
              <a:t>booking_id PK</a:t>
            </a:r>
            <a:br/>
            <a:r>
              <a:t>user_id / equipment FK</a:t>
            </a:r>
            <a:br/>
            <a:r>
              <a:t>time slot FK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3520" y="3794760"/>
            <a:ext cx="1920240" cy="914400"/>
          </a:xfrm>
          <a:prstGeom prst="roundRect">
            <a:avLst/>
          </a:prstGeom>
          <a:solidFill>
            <a:srgbClr val="192C49"/>
          </a:solidFill>
          <a:ln>
            <a:solidFill>
              <a:srgbClr val="A9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94959" y="3877056"/>
            <a:ext cx="1737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A994FF"/>
                </a:solidFill>
                <a:latin typeface="Aptos"/>
              </a:defRPr>
            </a:pPr>
            <a:r>
              <a:t>USAGE 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13248" y="4142232"/>
            <a:ext cx="1700784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900" b="0">
                <a:solidFill>
                  <a:srgbClr val="F4F8FC"/>
                </a:solidFill>
                <a:latin typeface="Aptos"/>
              </a:defRPr>
            </a:pPr>
            <a:r>
              <a:t>usage_log_id PK</a:t>
            </a:r>
            <a:br/>
            <a:r>
              <a:t>booking_id FK</a:t>
            </a:r>
            <a:br/>
            <a:r>
              <a:t>date, details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89520" y="3794760"/>
            <a:ext cx="1920240" cy="914400"/>
          </a:xfrm>
          <a:prstGeom prst="roundRect">
            <a:avLst/>
          </a:prstGeom>
          <a:solidFill>
            <a:srgbClr val="192C49"/>
          </a:solidFill>
          <a:ln>
            <a:solidFill>
              <a:srgbClr val="FFB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0" y="3877056"/>
            <a:ext cx="17373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FB15C"/>
                </a:solidFill>
                <a:latin typeface="Aptos"/>
              </a:defRPr>
            </a:pPr>
            <a:r>
              <a:t>MAINTENANCE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9248" y="4142232"/>
            <a:ext cx="1700784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900" b="0">
                <a:solidFill>
                  <a:srgbClr val="F4F8FC"/>
                </a:solidFill>
                <a:latin typeface="Aptos"/>
              </a:defRPr>
            </a:pPr>
            <a:r>
              <a:t>maintenance_id PK</a:t>
            </a:r>
            <a:br/>
            <a:r>
              <a:t>equipment_id FK</a:t>
            </a:r>
            <a:br/>
            <a:r>
              <a:t>vendor_id FK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29800" y="3794760"/>
            <a:ext cx="1828800" cy="914400"/>
          </a:xfrm>
          <a:prstGeom prst="roundRect">
            <a:avLst/>
          </a:prstGeom>
          <a:solidFill>
            <a:srgbClr val="192C49"/>
          </a:solidFill>
          <a:ln>
            <a:solidFill>
              <a:srgbClr val="6DE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21240" y="3877056"/>
            <a:ext cx="16459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6DE2A6"/>
                </a:solidFill>
                <a:latin typeface="Aptos"/>
              </a:defRPr>
            </a:pPr>
            <a:r>
              <a:t>CONSUMABLE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9528" y="4142232"/>
            <a:ext cx="1609344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900" b="0">
                <a:solidFill>
                  <a:srgbClr val="F4F8FC"/>
                </a:solidFill>
                <a:latin typeface="Aptos"/>
              </a:defRPr>
            </a:pPr>
            <a:r>
              <a:t>consumable_id PK</a:t>
            </a:r>
            <a:br/>
            <a:r>
              <a:t>equipment_id FK</a:t>
            </a:r>
            <a:br/>
            <a:r>
              <a:t>stock quantity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2606040"/>
            <a:ext cx="10698480" cy="713232"/>
          </a:xfrm>
          <a:prstGeom prst="roundRect">
            <a:avLst/>
          </a:prstGeom>
          <a:solidFill>
            <a:srgbClr val="12223D"/>
          </a:solidFill>
          <a:ln>
            <a:solidFill>
              <a:srgbClr val="12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2788920"/>
            <a:ext cx="10241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4F8FC"/>
                </a:solidFill>
                <a:latin typeface="Aptos"/>
              </a:defRPr>
            </a:pPr>
            <a:r>
              <a:t>1 LABORATORY → M EQUIPMENT     •     1 CATEGORY → M EQUIPMENT     •     1 EQUIPMENT → M CALIBRATION / BREAKDOWN / CONSUMABLE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074920"/>
            <a:ext cx="10698480" cy="713232"/>
          </a:xfrm>
          <a:prstGeom prst="roundRect">
            <a:avLst/>
          </a:prstGeom>
          <a:solidFill>
            <a:srgbClr val="12223D"/>
          </a:solidFill>
          <a:ln>
            <a:solidFill>
              <a:srgbClr val="12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5266944"/>
            <a:ext cx="102412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200" b="1">
                <a:solidFill>
                  <a:srgbClr val="F4F8FC"/>
                </a:solidFill>
                <a:latin typeface="Aptos"/>
              </a:defRPr>
            </a:pPr>
            <a:r>
              <a:t>1 USER → M BOOKING     •     1 EQUIPMENT → M BOOKING     •     1 BOOKING → M USAGE LOG     •     1 BREAKDOWN may link to M maintenance jobs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6080760"/>
            <a:ext cx="10698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900" b="0">
                <a:solidFill>
                  <a:srgbClr val="AFBFD3"/>
                </a:solidFill>
                <a:latin typeface="Aptos"/>
              </a:defRPr>
            </a:pPr>
            <a:r>
              <a:t>The diagram follows the entities and relationships shown in the supplied Review 1 PDF.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6984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700" b="1">
                <a:solidFill>
                  <a:srgbClr val="F4F8FC"/>
                </a:solidFill>
                <a:latin typeface="Aptos"/>
              </a:defRPr>
            </a:pPr>
            <a:r>
              <a:t>Relational Schema — Table Inventory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04672"/>
            <a:ext cx="1143000" cy="41148"/>
          </a:xfrm>
          <a:prstGeom prst="rect">
            <a:avLst/>
          </a:prstGeom>
          <a:solidFill>
            <a:srgbClr val="2AD2BE"/>
          </a:solidFill>
          <a:ln>
            <a:solidFill>
              <a:srgbClr val="2A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81160" y="256032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2AD2BE"/>
                </a:solidFill>
                <a:latin typeface="Aptos"/>
              </a:defRPr>
            </a:pPr>
            <a:r>
              <a:t>06 •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FBFD3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606040" cy="4206240"/>
          </a:xfrm>
          <a:prstGeom prst="roundRect">
            <a:avLst/>
          </a:prstGeom>
          <a:solidFill>
            <a:srgbClr val="12223D"/>
          </a:solidFill>
          <a:ln>
            <a:solidFill>
              <a:srgbClr val="2A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64208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2AD2BE"/>
                </a:solidFill>
                <a:latin typeface="Aptos"/>
              </a:defRPr>
            </a:pPr>
            <a:r>
              <a:t>MASTER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31720"/>
            <a:ext cx="2240280" cy="457200"/>
          </a:xfrm>
          <a:prstGeom prst="roundRect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404872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4F8FC"/>
                </a:solidFill>
                <a:latin typeface="Aptos"/>
              </a:defRPr>
            </a:pPr>
            <a:r>
              <a:t>LABORATORY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53512"/>
            <a:ext cx="2240280" cy="457200"/>
          </a:xfrm>
          <a:prstGeom prst="roundRect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3026664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4F8FC"/>
                </a:solidFill>
                <a:latin typeface="Aptos"/>
              </a:defRPr>
            </a:pPr>
            <a:r>
              <a:t>EQUIPMENT_CATEGORY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75304"/>
            <a:ext cx="2240280" cy="457200"/>
          </a:xfrm>
          <a:prstGeom prst="roundRect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648456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4F8FC"/>
                </a:solidFill>
                <a:latin typeface="Aptos"/>
              </a:defRPr>
            </a:pPr>
            <a:r>
              <a:t>EQUIPMENT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197096"/>
            <a:ext cx="2240280" cy="457200"/>
          </a:xfrm>
          <a:prstGeom prst="roundRect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270248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4F8FC"/>
                </a:solidFill>
                <a:latin typeface="Aptos"/>
              </a:defRPr>
            </a:pPr>
            <a:r>
              <a:t>USER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18888"/>
            <a:ext cx="2240280" cy="457200"/>
          </a:xfrm>
          <a:prstGeom prst="roundRect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4892040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4F8FC"/>
                </a:solidFill>
                <a:latin typeface="Aptos"/>
              </a:defRPr>
            </a:pPr>
            <a:r>
              <a:t>VENDOR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74720" y="1417320"/>
            <a:ext cx="2606040" cy="4206240"/>
          </a:xfrm>
          <a:prstGeom prst="roundRect">
            <a:avLst/>
          </a:prstGeom>
          <a:solidFill>
            <a:srgbClr val="12223D"/>
          </a:solidFill>
          <a:ln>
            <a:solidFill>
              <a:srgbClr val="6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9312" y="1664208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61DCE6"/>
                </a:solidFill>
                <a:latin typeface="Aptos"/>
              </a:defRPr>
            </a:pPr>
            <a:r>
              <a:t>BOOKING &amp; USAGE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2331720"/>
            <a:ext cx="2240280" cy="457200"/>
          </a:xfrm>
          <a:prstGeom prst="roundRect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0752" y="2404872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4F8FC"/>
                </a:solidFill>
                <a:latin typeface="Aptos"/>
              </a:defRPr>
            </a:pPr>
            <a:r>
              <a:t>TIME_SLOT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2953512"/>
            <a:ext cx="2240280" cy="457200"/>
          </a:xfrm>
          <a:prstGeom prst="roundRect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30752" y="3026664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4F8FC"/>
                </a:solidFill>
                <a:latin typeface="Aptos"/>
              </a:defRPr>
            </a:pPr>
            <a:r>
              <a:t>BOOKING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575304"/>
            <a:ext cx="2240280" cy="457200"/>
          </a:xfrm>
          <a:prstGeom prst="roundRect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30752" y="3648456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4F8FC"/>
                </a:solidFill>
                <a:latin typeface="Aptos"/>
              </a:defRPr>
            </a:pPr>
            <a:r>
              <a:t>USAGE_LOG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1417320"/>
            <a:ext cx="2606040" cy="4206240"/>
          </a:xfrm>
          <a:prstGeom prst="roundRect">
            <a:avLst/>
          </a:prstGeom>
          <a:solidFill>
            <a:srgbClr val="12223D"/>
          </a:solidFill>
          <a:ln>
            <a:solidFill>
              <a:srgbClr val="FFB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9672" y="1664208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FB15C"/>
                </a:solidFill>
                <a:latin typeface="Aptos"/>
              </a:defRPr>
            </a:pPr>
            <a:r>
              <a:t>SAFETY &amp; MAINTENANCE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2331720"/>
            <a:ext cx="2240280" cy="457200"/>
          </a:xfrm>
          <a:prstGeom prst="roundRect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1112" y="2404872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4F8FC"/>
                </a:solidFill>
                <a:latin typeface="Aptos"/>
              </a:defRPr>
            </a:pPr>
            <a:r>
              <a:t>CALIBRATION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2953512"/>
            <a:ext cx="2240280" cy="457200"/>
          </a:xfrm>
          <a:prstGeom prst="roundRect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11112" y="3026664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4F8FC"/>
                </a:solidFill>
                <a:latin typeface="Aptos"/>
              </a:defRPr>
            </a:pPr>
            <a:r>
              <a:t>BREAKDOWN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37960" y="3575304"/>
            <a:ext cx="2240280" cy="457200"/>
          </a:xfrm>
          <a:prstGeom prst="roundRect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11112" y="3648456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4F8FC"/>
                </a:solidFill>
                <a:latin typeface="Aptos"/>
              </a:defRPr>
            </a:pPr>
            <a:r>
              <a:t>MAINTENANCE_JOB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40" y="1417320"/>
            <a:ext cx="2606040" cy="4206240"/>
          </a:xfrm>
          <a:prstGeom prst="roundRect">
            <a:avLst/>
          </a:prstGeom>
          <a:solidFill>
            <a:srgbClr val="12223D"/>
          </a:solidFill>
          <a:ln>
            <a:solidFill>
              <a:srgbClr val="6DE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00032" y="1664208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6DE2A6"/>
                </a:solidFill>
                <a:latin typeface="Aptos"/>
              </a:defRPr>
            </a:pPr>
            <a:r>
              <a:t>STOCK CONTROL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18319" y="2331720"/>
            <a:ext cx="2240280" cy="457200"/>
          </a:xfrm>
          <a:prstGeom prst="roundRect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91472" y="2404872"/>
            <a:ext cx="2103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100" b="1">
                <a:solidFill>
                  <a:srgbClr val="F4F8FC"/>
                </a:solidFill>
                <a:latin typeface="Aptos"/>
              </a:defRPr>
            </a:pPr>
            <a:r>
              <a:t>CONSUMABLE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925312"/>
            <a:ext cx="10789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F4F8FC"/>
                </a:solidFill>
                <a:latin typeface="Aptos"/>
              </a:defRPr>
            </a:pPr>
            <a:r>
              <a:t>Primary keys uniquely identify records; foreign keys preserve valid links across the lifecycle.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6984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700" b="1">
                <a:solidFill>
                  <a:srgbClr val="F4F8FC"/>
                </a:solidFill>
                <a:latin typeface="Aptos"/>
              </a:defRPr>
            </a:pPr>
            <a:r>
              <a:t>Normalization &amp; Data Integrity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04672"/>
            <a:ext cx="1143000" cy="41148"/>
          </a:xfrm>
          <a:prstGeom prst="rect">
            <a:avLst/>
          </a:prstGeom>
          <a:solidFill>
            <a:srgbClr val="2AD2BE"/>
          </a:solidFill>
          <a:ln>
            <a:solidFill>
              <a:srgbClr val="2A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81160" y="256032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2AD2BE"/>
                </a:solidFill>
                <a:latin typeface="Aptos"/>
              </a:defRPr>
            </a:pPr>
            <a:r>
              <a:t>07 • QUALITY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FBFD3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74720" cy="1828800"/>
          </a:xfrm>
          <a:prstGeom prst="roundRect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4008" cy="1828800"/>
          </a:xfrm>
          <a:prstGeom prst="rect">
            <a:avLst/>
          </a:prstGeom>
          <a:solidFill>
            <a:srgbClr val="2AD2BE"/>
          </a:solidFill>
          <a:ln>
            <a:solidFill>
              <a:srgbClr val="2A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81912"/>
            <a:ext cx="312724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F4F8FC"/>
                </a:solidFill>
                <a:latin typeface="Aptos"/>
              </a:defRPr>
            </a:pPr>
            <a:r>
              <a:t>1NF — ATOMIC 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984248"/>
            <a:ext cx="3163824" cy="1170432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•  One value per field</a:t>
            </a:r>
          </a:p>
          <a:p>
            <a:pPr>
              <a:spcAft>
                <a:spcPts val="50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•  No repeating groups inside a row</a:t>
            </a:r>
          </a:p>
          <a:p>
            <a:pPr>
              <a:spcAft>
                <a:spcPts val="50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•  Separate bookings, calibration and usage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17320"/>
            <a:ext cx="3474720" cy="1828800"/>
          </a:xfrm>
          <a:prstGeom prst="roundRect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417320"/>
            <a:ext cx="64008" cy="1828800"/>
          </a:xfrm>
          <a:prstGeom prst="rect">
            <a:avLst/>
          </a:prstGeom>
          <a:solidFill>
            <a:srgbClr val="61DCE6"/>
          </a:solidFill>
          <a:ln>
            <a:solidFill>
              <a:srgbClr val="6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81912"/>
            <a:ext cx="312724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F4F8FC"/>
                </a:solidFill>
                <a:latin typeface="Aptos"/>
              </a:defRPr>
            </a:pPr>
            <a:r>
              <a:t>2NF — FULL DEPENDENCY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1984248"/>
            <a:ext cx="3163824" cy="1170432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•  Non-key attributes depend on the whole key</a:t>
            </a:r>
          </a:p>
          <a:p>
            <a:pPr>
              <a:spcAft>
                <a:spcPts val="50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•  Keep entity-specific details in their own tables</a:t>
            </a:r>
          </a:p>
          <a:p>
            <a:pPr>
              <a:spcAft>
                <a:spcPts val="50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•  Avoid partial-key dependencies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17320"/>
            <a:ext cx="3474720" cy="1828800"/>
          </a:xfrm>
          <a:prstGeom prst="roundRect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417320"/>
            <a:ext cx="64008" cy="1828800"/>
          </a:xfrm>
          <a:prstGeom prst="rect">
            <a:avLst/>
          </a:prstGeom>
          <a:solidFill>
            <a:srgbClr val="A994FF"/>
          </a:solidFill>
          <a:ln>
            <a:solidFill>
              <a:srgbClr val="A9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581912"/>
            <a:ext cx="312724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F4F8FC"/>
                </a:solidFill>
                <a:latin typeface="Aptos"/>
              </a:defRPr>
            </a:pPr>
            <a:r>
              <a:t>3NF — NO TRANSITIVE DEPENDENCY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1984248"/>
            <a:ext cx="3163824" cy="1170432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•  User data stays in USER</a:t>
            </a:r>
          </a:p>
          <a:p>
            <a:pPr>
              <a:spcAft>
                <a:spcPts val="50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•  Vendor data stays in VENDOR</a:t>
            </a:r>
          </a:p>
          <a:p>
            <a:pPr>
              <a:spcAft>
                <a:spcPts val="50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•  Equipment references category and laboratory keys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49039"/>
            <a:ext cx="10835640" cy="1417320"/>
          </a:xfrm>
          <a:prstGeom prst="roundRect">
            <a:avLst/>
          </a:prstGeom>
          <a:solidFill>
            <a:srgbClr val="12223D"/>
          </a:solidFill>
          <a:ln>
            <a:solidFill>
              <a:srgbClr val="12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77639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1">
                <a:solidFill>
                  <a:srgbClr val="2AD2BE"/>
                </a:solidFill>
                <a:latin typeface="Aptos"/>
              </a:defRPr>
            </a:pPr>
            <a:r>
              <a:t>INTEGRITY TOOLS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931920"/>
            <a:ext cx="813816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0">
                <a:solidFill>
                  <a:srgbClr val="F4F8FC"/>
                </a:solidFill>
                <a:latin typeface="Aptos"/>
              </a:defRPr>
            </a:pPr>
            <a:r>
              <a:t>PRIMARY KEY: identity  •  FOREIGN KEY: relationships  •  NOT NULL: required fields</a:t>
            </a:r>
            <a:br/>
            <a:r>
              <a:t>UNIQUE: prevent duplicates  •  CHECK: valid values  •  TRANSACTION: consistent multi-step changes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23560"/>
            <a:ext cx="10607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AFBFD3"/>
                </a:solidFill>
                <a:latin typeface="Aptos"/>
              </a:defRPr>
            </a:pPr>
            <a:r>
              <a:t>Review 2 target: convert the ER design into a consistent schema and document the constraints that protect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6984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700" b="1">
                <a:solidFill>
                  <a:srgbClr val="F4F8FC"/>
                </a:solidFill>
                <a:latin typeface="Aptos"/>
              </a:defRPr>
            </a:pPr>
            <a:r>
              <a:t>Business Rules &amp; Constraint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04672"/>
            <a:ext cx="1143000" cy="41148"/>
          </a:xfrm>
          <a:prstGeom prst="rect">
            <a:avLst/>
          </a:prstGeom>
          <a:solidFill>
            <a:srgbClr val="2AD2BE"/>
          </a:solidFill>
          <a:ln>
            <a:solidFill>
              <a:srgbClr val="2A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81160" y="256032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2AD2BE"/>
                </a:solidFill>
                <a:latin typeface="Aptos"/>
              </a:defRPr>
            </a:pPr>
            <a:r>
              <a:t>08 •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FBFD3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10835640" cy="768096"/>
          </a:xfrm>
          <a:prstGeom prst="roundRect">
            <a:avLst/>
          </a:prstGeom>
          <a:solidFill>
            <a:srgbClr val="12223D"/>
          </a:solidFill>
          <a:ln>
            <a:solidFill>
              <a:srgbClr val="12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1">
                <a:solidFill>
                  <a:srgbClr val="2AD2B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353312"/>
            <a:ext cx="29718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1">
                <a:solidFill>
                  <a:srgbClr val="F4F8FC"/>
                </a:solidFill>
                <a:latin typeface="Aptos"/>
              </a:defRPr>
            </a:pPr>
            <a:r>
              <a:t>No overlapping approved bookings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353312"/>
            <a:ext cx="653796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AFBFD3"/>
                </a:solidFill>
                <a:latin typeface="Aptos"/>
              </a:defRPr>
            </a:pPr>
            <a:r>
              <a:t>Use a conflict check before approval; enforce transaction-safe validation.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221992"/>
            <a:ext cx="10835640" cy="768096"/>
          </a:xfrm>
          <a:prstGeom prst="roundRect">
            <a:avLst/>
          </a:prstGeom>
          <a:solidFill>
            <a:srgbClr val="12223D"/>
          </a:solidFill>
          <a:ln>
            <a:solidFill>
              <a:srgbClr val="12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404872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1">
                <a:solidFill>
                  <a:srgbClr val="2AD2B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340864"/>
            <a:ext cx="29718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1">
                <a:solidFill>
                  <a:srgbClr val="F4F8FC"/>
                </a:solidFill>
                <a:latin typeface="Aptos"/>
              </a:defRPr>
            </a:pPr>
            <a:r>
              <a:t>Only active equipment can be reserved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40864"/>
            <a:ext cx="653796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AFBFD3"/>
                </a:solidFill>
                <a:latin typeface="Aptos"/>
              </a:defRPr>
            </a:pPr>
            <a:r>
              <a:t>Validate equipment status when a booking is created or approved.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09544"/>
            <a:ext cx="10835640" cy="768096"/>
          </a:xfrm>
          <a:prstGeom prst="roundRect">
            <a:avLst/>
          </a:prstGeom>
          <a:solidFill>
            <a:srgbClr val="12223D"/>
          </a:solidFill>
          <a:ln>
            <a:solidFill>
              <a:srgbClr val="12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392424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1">
                <a:solidFill>
                  <a:srgbClr val="2AD2B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328416"/>
            <a:ext cx="29718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1">
                <a:solidFill>
                  <a:srgbClr val="F4F8FC"/>
                </a:solidFill>
                <a:latin typeface="Aptos"/>
              </a:defRPr>
            </a:pPr>
            <a:r>
              <a:t>Calibration dates must be valid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328416"/>
            <a:ext cx="653796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AFBFD3"/>
                </a:solidFill>
                <a:latin typeface="Aptos"/>
              </a:defRPr>
            </a:pPr>
            <a:r>
              <a:t>Ensure calibration date and next-due date are logically ordered.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197096"/>
            <a:ext cx="10835640" cy="768096"/>
          </a:xfrm>
          <a:prstGeom prst="roundRect">
            <a:avLst/>
          </a:prstGeom>
          <a:solidFill>
            <a:srgbClr val="12223D"/>
          </a:solidFill>
          <a:ln>
            <a:solidFill>
              <a:srgbClr val="12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379976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1">
                <a:solidFill>
                  <a:srgbClr val="2AD2B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315968"/>
            <a:ext cx="29718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1">
                <a:solidFill>
                  <a:srgbClr val="F4F8FC"/>
                </a:solidFill>
                <a:latin typeface="Aptos"/>
              </a:defRPr>
            </a:pPr>
            <a:r>
              <a:t>Consumables respect stock limits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4315968"/>
            <a:ext cx="653796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AFBFD3"/>
                </a:solidFill>
                <a:latin typeface="Aptos"/>
              </a:defRPr>
            </a:pPr>
            <a:r>
              <a:t>Quantity must be non-negative; usage must not exceed available stock.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4648"/>
            <a:ext cx="10835640" cy="768096"/>
          </a:xfrm>
          <a:prstGeom prst="roundRect">
            <a:avLst/>
          </a:prstGeom>
          <a:solidFill>
            <a:srgbClr val="12223D"/>
          </a:solidFill>
          <a:ln>
            <a:solidFill>
              <a:srgbClr val="12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367528"/>
            <a:ext cx="5029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1">
                <a:solidFill>
                  <a:srgbClr val="2AD2B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303520"/>
            <a:ext cx="29718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1">
                <a:solidFill>
                  <a:srgbClr val="F4F8FC"/>
                </a:solidFill>
                <a:latin typeface="Aptos"/>
              </a:defRPr>
            </a:pPr>
            <a:r>
              <a:t>Maintenance is traceable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303520"/>
            <a:ext cx="6537960" cy="4846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AFBFD3"/>
                </a:solidFill>
                <a:latin typeface="Aptos"/>
              </a:defRPr>
            </a:pPr>
            <a:r>
              <a:t>Track start date, completion date, status, vendor and related breakdown.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263640"/>
            <a:ext cx="104241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000" b="0">
                <a:solidFill>
                  <a:srgbClr val="FFB15C"/>
                </a:solidFill>
                <a:latin typeface="Aptos"/>
              </a:defRPr>
            </a:pPr>
            <a:r>
              <a:t>Important: overlap prevention may require transaction-aware logic or a database trigger; a simple CHECK constraint cannot compare separate rows.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6984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700" b="1">
                <a:solidFill>
                  <a:srgbClr val="F4F8FC"/>
                </a:solidFill>
                <a:latin typeface="Aptos"/>
              </a:defRPr>
            </a:pPr>
            <a:r>
              <a:t>Conflict-Aware Booking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04672"/>
            <a:ext cx="1143000" cy="41148"/>
          </a:xfrm>
          <a:prstGeom prst="rect">
            <a:avLst/>
          </a:prstGeom>
          <a:solidFill>
            <a:srgbClr val="2AD2BE"/>
          </a:solidFill>
          <a:ln>
            <a:solidFill>
              <a:srgbClr val="2A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81160" y="256032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2AD2BE"/>
                </a:solidFill>
                <a:latin typeface="Aptos"/>
              </a:defRPr>
            </a:pPr>
            <a:r>
              <a:t>09 • CORE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FBFD3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51206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2AD2BE"/>
                </a:solidFill>
                <a:latin typeface="Aptos"/>
              </a:defRPr>
            </a:pPr>
            <a:r>
              <a:t>VALIDATION SEQUENCE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5166360" cy="566928"/>
          </a:xfrm>
          <a:prstGeom prst="roundRect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1">
                <a:solidFill>
                  <a:srgbClr val="2AD2B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792224"/>
            <a:ext cx="4251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F4F8FC"/>
                </a:solidFill>
                <a:latin typeface="Aptos"/>
              </a:defRPr>
            </a:pPr>
            <a:r>
              <a:t>Read equipment and requested time window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41448"/>
            <a:ext cx="5166360" cy="566928"/>
          </a:xfrm>
          <a:prstGeom prst="roundRect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1">
                <a:solidFill>
                  <a:srgbClr val="2AD2B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542032"/>
            <a:ext cx="4251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F4F8FC"/>
                </a:solidFill>
                <a:latin typeface="Aptos"/>
              </a:defRPr>
            </a:pPr>
            <a:r>
              <a:t>Reject if equipment is not ACTIVE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91256"/>
            <a:ext cx="5166360" cy="566928"/>
          </a:xfrm>
          <a:prstGeom prst="roundRect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10128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1">
                <a:solidFill>
                  <a:srgbClr val="2AD2B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3291840"/>
            <a:ext cx="4251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F4F8FC"/>
                </a:solidFill>
                <a:latin typeface="Aptos"/>
              </a:defRPr>
            </a:pPr>
            <a:r>
              <a:t>Check calibration / maintenance readiness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41064"/>
            <a:ext cx="5166360" cy="566928"/>
          </a:xfrm>
          <a:prstGeom prst="roundRect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59936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1">
                <a:solidFill>
                  <a:srgbClr val="2AD2BE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4041648"/>
            <a:ext cx="4251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F4F8FC"/>
                </a:solidFill>
                <a:latin typeface="Aptos"/>
              </a:defRPr>
            </a:pPr>
            <a:r>
              <a:t>Search approved bookings for time overlap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690872"/>
            <a:ext cx="5166360" cy="566928"/>
          </a:xfrm>
          <a:prstGeom prst="roundRect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809744"/>
            <a:ext cx="3657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1">
                <a:solidFill>
                  <a:srgbClr val="2AD2B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4791456"/>
            <a:ext cx="42519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F4F8FC"/>
                </a:solidFill>
                <a:latin typeface="Aptos"/>
              </a:defRPr>
            </a:pPr>
            <a:r>
              <a:t>Create booking only if every check passes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1417320"/>
            <a:ext cx="5074920" cy="3291840"/>
          </a:xfrm>
          <a:prstGeom prst="roundRect">
            <a:avLst/>
          </a:prstGeom>
          <a:solidFill>
            <a:srgbClr val="12223D"/>
          </a:solidFill>
          <a:ln>
            <a:solidFill>
              <a:srgbClr val="12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1664208"/>
            <a:ext cx="44805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FFB15C"/>
                </a:solidFill>
                <a:latin typeface="Aptos"/>
              </a:defRPr>
            </a:pPr>
            <a:r>
              <a:t>OVERLAP CONDITION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148840"/>
            <a:ext cx="443484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700" b="1">
                <a:solidFill>
                  <a:srgbClr val="F4F8FC"/>
                </a:solidFill>
                <a:latin typeface="Aptos"/>
              </a:defRPr>
            </a:pPr>
            <a:r>
              <a:t>Existing.start &lt; Requested.end</a:t>
            </a:r>
            <a:br/>
            <a:r>
              <a:t>AND Existing.end &gt; Requested.start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063240"/>
            <a:ext cx="434340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0">
                <a:solidFill>
                  <a:srgbClr val="AFBFD3"/>
                </a:solidFill>
                <a:latin typeface="Aptos"/>
              </a:defRPr>
            </a:pPr>
            <a:r>
              <a:t>If both comparisons are true, the time ranges intersect. The request must be rejected or sent for review.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4160520"/>
            <a:ext cx="1965960" cy="310896"/>
          </a:xfrm>
          <a:prstGeom prst="roundRect">
            <a:avLst/>
          </a:prstGeom>
          <a:solidFill>
            <a:srgbClr val="12223D"/>
          </a:solidFill>
          <a:ln>
            <a:solidFill>
              <a:srgbClr val="FF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4178807"/>
            <a:ext cx="1874519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defRPr sz="1000" b="1">
                <a:solidFill>
                  <a:srgbClr val="FF6E78"/>
                </a:solidFill>
                <a:latin typeface="Aptos"/>
              </a:defRPr>
            </a:pPr>
            <a:r>
              <a:t>CONFLICT FOUND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983480"/>
            <a:ext cx="5074920" cy="685800"/>
          </a:xfrm>
          <a:prstGeom prst="roundRect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5157216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6DE2A6"/>
                </a:solidFill>
                <a:latin typeface="Aptos"/>
              </a:defRPr>
            </a:pPr>
            <a:r>
              <a:t>Concurrency-safe transaction / trigger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200" b="0">
                <a:solidFill>
                  <a:srgbClr val="AFBFD3"/>
                </a:solidFill>
                <a:latin typeface="Aptos"/>
              </a:defRPr>
            </a:pPr>
            <a:r>
              <a:t>This is the central rule that prevents double booking for the same equipment.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6984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700" b="1">
                <a:solidFill>
                  <a:srgbClr val="F4F8FC"/>
                </a:solidFill>
                <a:latin typeface="Aptos"/>
              </a:defRPr>
            </a:pPr>
            <a:r>
              <a:t>Review 2: Analytical Queries &amp; Views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04672"/>
            <a:ext cx="1143000" cy="41148"/>
          </a:xfrm>
          <a:prstGeom prst="rect">
            <a:avLst/>
          </a:prstGeom>
          <a:solidFill>
            <a:srgbClr val="2AD2BE"/>
          </a:solidFill>
          <a:ln>
            <a:solidFill>
              <a:srgbClr val="2A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81160" y="256032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2AD2BE"/>
                </a:solidFill>
                <a:latin typeface="Aptos"/>
              </a:defRPr>
            </a:pPr>
            <a:r>
              <a:t>10 • SQL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FBFD3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3474720" cy="1691640"/>
          </a:xfrm>
          <a:prstGeom prst="roundRect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64008" cy="1691640"/>
          </a:xfrm>
          <a:prstGeom prst="rect">
            <a:avLst/>
          </a:prstGeom>
          <a:solidFill>
            <a:srgbClr val="2AD2BE"/>
          </a:solidFill>
          <a:ln>
            <a:solidFill>
              <a:srgbClr val="2A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490472"/>
            <a:ext cx="312724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F4F8FC"/>
                </a:solidFill>
                <a:latin typeface="Aptos"/>
              </a:defRPr>
            </a:pPr>
            <a:r>
              <a:t>AVAILABILITY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92807"/>
            <a:ext cx="3090672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0">
                <a:solidFill>
                  <a:srgbClr val="AFBFD3"/>
                </a:solidFill>
                <a:latin typeface="Aptos"/>
              </a:defRPr>
            </a:pPr>
            <a:r>
              <a:t>Show active equipment and booking windows; identify free slots.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474720" cy="1691640"/>
          </a:xfrm>
          <a:prstGeom prst="roundRect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25880"/>
            <a:ext cx="64008" cy="1691640"/>
          </a:xfrm>
          <a:prstGeom prst="rect">
            <a:avLst/>
          </a:prstGeom>
          <a:solidFill>
            <a:srgbClr val="61DCE6"/>
          </a:solidFill>
          <a:ln>
            <a:solidFill>
              <a:srgbClr val="6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490472"/>
            <a:ext cx="312724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F4F8FC"/>
                </a:solidFill>
                <a:latin typeface="Aptos"/>
              </a:defRPr>
            </a:pPr>
            <a:r>
              <a:t>UTILIZATION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1892807"/>
            <a:ext cx="3090672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0">
                <a:solidFill>
                  <a:srgbClr val="AFBFD3"/>
                </a:solidFill>
                <a:latin typeface="Aptos"/>
              </a:defRPr>
            </a:pPr>
            <a:r>
              <a:t>Compare booked time with available time by equipment/category.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1325880"/>
            <a:ext cx="3474720" cy="1691640"/>
          </a:xfrm>
          <a:prstGeom prst="roundRect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59" y="1325880"/>
            <a:ext cx="64008" cy="1691640"/>
          </a:xfrm>
          <a:prstGeom prst="rect">
            <a:avLst/>
          </a:prstGeom>
          <a:solidFill>
            <a:srgbClr val="FFB15C"/>
          </a:solidFill>
          <a:ln>
            <a:solidFill>
              <a:srgbClr val="FFB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9327" y="1490472"/>
            <a:ext cx="312724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F4F8FC"/>
                </a:solidFill>
                <a:latin typeface="Aptos"/>
              </a:defRPr>
            </a:pPr>
            <a:r>
              <a:t>CALIBRATION DUE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7" y="1892807"/>
            <a:ext cx="3090672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0">
                <a:solidFill>
                  <a:srgbClr val="AFBFD3"/>
                </a:solidFill>
                <a:latin typeface="Aptos"/>
              </a:defRPr>
            </a:pPr>
            <a:r>
              <a:t>List equipment whose next calibration date is approaching or overdue.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383280"/>
            <a:ext cx="3474720" cy="1691640"/>
          </a:xfrm>
          <a:prstGeom prst="roundRect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383280"/>
            <a:ext cx="64008" cy="1691640"/>
          </a:xfrm>
          <a:prstGeom prst="rect">
            <a:avLst/>
          </a:prstGeom>
          <a:solidFill>
            <a:srgbClr val="FF6E78"/>
          </a:solidFill>
          <a:ln>
            <a:solidFill>
              <a:srgbClr val="FF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3547872"/>
            <a:ext cx="312724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F4F8FC"/>
                </a:solidFill>
                <a:latin typeface="Aptos"/>
              </a:defRPr>
            </a:pPr>
            <a:r>
              <a:t>DOWNTIME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3950208"/>
            <a:ext cx="3090672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0">
                <a:solidFill>
                  <a:srgbClr val="AFBFD3"/>
                </a:solidFill>
                <a:latin typeface="Aptos"/>
              </a:defRPr>
            </a:pPr>
            <a:r>
              <a:t>Summarize breakdown periods and maintenance completion.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383280"/>
            <a:ext cx="3474720" cy="1691640"/>
          </a:xfrm>
          <a:prstGeom prst="roundRect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383280"/>
            <a:ext cx="64008" cy="1691640"/>
          </a:xfrm>
          <a:prstGeom prst="rect">
            <a:avLst/>
          </a:prstGeom>
          <a:solidFill>
            <a:srgbClr val="6DE2A6"/>
          </a:solidFill>
          <a:ln>
            <a:solidFill>
              <a:srgbClr val="6DE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3547872"/>
            <a:ext cx="312724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F4F8FC"/>
                </a:solidFill>
                <a:latin typeface="Aptos"/>
              </a:defRPr>
            </a:pPr>
            <a:r>
              <a:t>CONSUMABLE STOCK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3950208"/>
            <a:ext cx="3090672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0">
                <a:solidFill>
                  <a:srgbClr val="AFBFD3"/>
                </a:solidFill>
                <a:latin typeface="Aptos"/>
              </a:defRPr>
            </a:pPr>
            <a:r>
              <a:t>Flag low-stock items and quantities that need replenishment.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59" y="3383280"/>
            <a:ext cx="3474720" cy="1691640"/>
          </a:xfrm>
          <a:prstGeom prst="roundRect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38159" y="3383280"/>
            <a:ext cx="64008" cy="1691640"/>
          </a:xfrm>
          <a:prstGeom prst="rect">
            <a:avLst/>
          </a:prstGeom>
          <a:solidFill>
            <a:srgbClr val="A994FF"/>
          </a:solidFill>
          <a:ln>
            <a:solidFill>
              <a:srgbClr val="A9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7" y="3547872"/>
            <a:ext cx="3127248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600" b="1">
                <a:solidFill>
                  <a:srgbClr val="F4F8FC"/>
                </a:solidFill>
                <a:latin typeface="Aptos"/>
              </a:defRPr>
            </a:pPr>
            <a:r>
              <a:t>BOOKING AUDIT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3950208"/>
            <a:ext cx="3090672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300" b="0">
                <a:solidFill>
                  <a:srgbClr val="AFBFD3"/>
                </a:solidFill>
                <a:latin typeface="Aptos"/>
              </a:defRPr>
            </a:pPr>
            <a:r>
              <a:t>Trace requester, equipment, booking status and usage log.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623560"/>
            <a:ext cx="10698480" cy="502920"/>
          </a:xfrm>
          <a:prstGeom prst="roundRect">
            <a:avLst/>
          </a:prstGeom>
          <a:solidFill>
            <a:srgbClr val="12223D"/>
          </a:solidFill>
          <a:ln>
            <a:solidFill>
              <a:srgbClr val="12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742432"/>
            <a:ext cx="103327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1300" b="1">
                <a:solidFill>
                  <a:srgbClr val="F4F8FC"/>
                </a:solidFill>
                <a:latin typeface="Aptos"/>
              </a:defRPr>
            </a:pPr>
            <a:r>
              <a:t>SQL techniques: JOIN • GROUP BY • aggregate functions • CASE • subqueries • CREATE 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69848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2700" b="1">
                <a:solidFill>
                  <a:srgbClr val="F4F8FC"/>
                </a:solidFill>
                <a:latin typeface="Aptos"/>
              </a:defRPr>
            </a:pPr>
            <a:r>
              <a:t>Implementation Plan &amp; Final Outcome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04672"/>
            <a:ext cx="1143000" cy="41148"/>
          </a:xfrm>
          <a:prstGeom prst="rect">
            <a:avLst/>
          </a:prstGeom>
          <a:solidFill>
            <a:srgbClr val="2AD2BE"/>
          </a:solidFill>
          <a:ln>
            <a:solidFill>
              <a:srgbClr val="2A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81160" y="256032"/>
            <a:ext cx="2331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2AD2BE"/>
                </a:solidFill>
                <a:latin typeface="Aptos"/>
              </a:defRPr>
            </a:pPr>
            <a:r>
              <a:t>11 • DELIVERY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510528"/>
            <a:ext cx="457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defRPr sz="1000" b="1">
                <a:solidFill>
                  <a:srgbClr val="AFBFD3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429000" cy="1417320"/>
          </a:xfrm>
          <a:prstGeom prst="roundRect">
            <a:avLst/>
          </a:prstGeom>
          <a:solidFill>
            <a:srgbClr val="12223D"/>
          </a:solidFill>
          <a:ln>
            <a:solidFill>
              <a:srgbClr val="2AD2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27632"/>
            <a:ext cx="3017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1">
                <a:solidFill>
                  <a:srgbClr val="2AD2BE"/>
                </a:solidFill>
                <a:latin typeface="Aptos"/>
              </a:defRPr>
            </a:pPr>
            <a:r>
              <a:t>PHASE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3017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F4F8FC"/>
                </a:solidFill>
                <a:latin typeface="Aptos"/>
              </a:defRPr>
            </a:pPr>
            <a:r>
              <a:t>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30175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AFBFD3"/>
                </a:solidFill>
                <a:latin typeface="Aptos"/>
              </a:defRPr>
            </a:pPr>
            <a:r>
              <a:t>Use cases, constraints and ER draft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417320"/>
            <a:ext cx="3429000" cy="1417320"/>
          </a:xfrm>
          <a:prstGeom prst="roundRect">
            <a:avLst/>
          </a:prstGeom>
          <a:solidFill>
            <a:srgbClr val="12223D"/>
          </a:solidFill>
          <a:ln>
            <a:solidFill>
              <a:srgbClr val="61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627632"/>
            <a:ext cx="3017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1">
                <a:solidFill>
                  <a:srgbClr val="61DCE6"/>
                </a:solidFill>
                <a:latin typeface="Aptos"/>
              </a:defRPr>
            </a:pPr>
            <a: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965960"/>
            <a:ext cx="3017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F4F8FC"/>
                </a:solidFill>
                <a:latin typeface="Aptos"/>
              </a:defRPr>
            </a:pPr>
            <a:r>
              <a:t>DATABASE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331720"/>
            <a:ext cx="30175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AFBFD3"/>
                </a:solidFill>
                <a:latin typeface="Aptos"/>
              </a:defRPr>
            </a:pPr>
            <a:r>
              <a:t>Normalized tables, keys and SQL schema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417320"/>
            <a:ext cx="3429000" cy="1417320"/>
          </a:xfrm>
          <a:prstGeom prst="roundRect">
            <a:avLst/>
          </a:prstGeom>
          <a:solidFill>
            <a:srgbClr val="12223D"/>
          </a:solidFill>
          <a:ln>
            <a:solidFill>
              <a:srgbClr val="A99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1627632"/>
            <a:ext cx="3017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1">
                <a:solidFill>
                  <a:srgbClr val="A994FF"/>
                </a:solidFill>
                <a:latin typeface="Aptos"/>
              </a:defRPr>
            </a:pPr>
            <a:r>
              <a:t>PHASE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1965960"/>
            <a:ext cx="3017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1">
                <a:solidFill>
                  <a:srgbClr val="F4F8FC"/>
                </a:solidFill>
                <a:latin typeface="Aptos"/>
              </a:defRPr>
            </a:pPr>
            <a:r>
              <a:t>TEST &amp;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331720"/>
            <a:ext cx="30175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100" b="0">
                <a:solidFill>
                  <a:srgbClr val="AFBFD3"/>
                </a:solidFill>
                <a:latin typeface="Aptos"/>
              </a:defRPr>
            </a:pPr>
            <a:r>
              <a:t>Sample data, validation and reports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337560"/>
            <a:ext cx="43891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2AD2BE"/>
                </a:solidFill>
                <a:latin typeface="Aptos"/>
              </a:defRPr>
            </a:pPr>
            <a:r>
              <a:t>TEST CASES TO DEMONSTRATE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94760"/>
            <a:ext cx="5212080" cy="1737360"/>
          </a:xfrm>
          <a:prstGeom prst="rect">
            <a:avLst/>
          </a:prstGeom>
          <a:noFill/>
        </p:spPr>
        <p:txBody>
          <a:bodyPr wrap="square" lIns="73152" rIns="73152" tIns="54864" bIns="36576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•  Overlapping booking is rejected</a:t>
            </a:r>
          </a:p>
          <a:p>
            <a:pPr>
              <a:spcAft>
                <a:spcPts val="60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•  Inactive equipment cannot be booked</a:t>
            </a:r>
          </a:p>
          <a:p>
            <a:pPr>
              <a:spcAft>
                <a:spcPts val="60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•  Invalid calibration dates are rejected</a:t>
            </a:r>
          </a:p>
          <a:p>
            <a:pPr>
              <a:spcAft>
                <a:spcPts val="60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•  Stock cannot fall below zero</a:t>
            </a:r>
          </a:p>
          <a:p>
            <a:pPr>
              <a:spcAft>
                <a:spcPts val="600"/>
              </a:spcAft>
              <a:defRPr sz="1300" b="0">
                <a:solidFill>
                  <a:srgbClr val="F4F8FC"/>
                </a:solidFill>
                <a:latin typeface="Aptos"/>
              </a:defRPr>
            </a:pPr>
            <a:r>
              <a:t>•  Completed maintenance updates the lifecycle record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383280"/>
            <a:ext cx="4846320" cy="2103120"/>
          </a:xfrm>
          <a:prstGeom prst="roundRect">
            <a:avLst/>
          </a:prstGeom>
          <a:solidFill>
            <a:srgbClr val="192C49"/>
          </a:solidFill>
          <a:ln>
            <a:solidFill>
              <a:srgbClr val="192C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3657600"/>
            <a:ext cx="42976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400" b="1">
                <a:solidFill>
                  <a:srgbClr val="2AD2BE"/>
                </a:solidFill>
                <a:latin typeface="Aptos"/>
              </a:defRPr>
            </a:pPr>
            <a:r>
              <a:t>EXPECTED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160520"/>
            <a:ext cx="4251960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defRPr sz="1500" b="0">
                <a:solidFill>
                  <a:srgbClr val="F4F8FC"/>
                </a:solidFill>
                <a:latin typeface="Aptos"/>
              </a:defRPr>
            </a:pPr>
            <a:r>
              <a:t>One traceable source of truth for equipment booking, readiness, usage, service and reporting—supporting safer decisions and better lab planning.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080760"/>
            <a:ext cx="10698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defRPr sz="2200" b="1">
                <a:solidFill>
                  <a:srgbClr val="F4F8FC"/>
                </a:solidFill>
                <a:latin typeface="Aptos"/>
              </a:defRPr>
            </a:pPr>
            <a:r>
              <a:t>THANK YOU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Laboratory Equipment Booking &amp; Maintenance System — Advanced Review 2</dc:title>
  <dc:subject>DBMS Project Presentation</dc:subject>
  <dc:creator>A Khushi Patro</dc:creator>
  <cp:keywords>DBMS, Laboratory Equipment, Booking, Maintenance, Review 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